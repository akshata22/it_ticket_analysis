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charts/chart9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64" r:id="rId18"/>
    <p:sldId id="266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ln w="508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4C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13051</c:v>
                </c:pt>
                <c:pt idx="1">
                  <c:v>14915</c:v>
                </c:pt>
                <c:pt idx="2">
                  <c:v>18954</c:v>
                </c:pt>
                <c:pt idx="3">
                  <c:v>21490</c:v>
                </c:pt>
                <c:pt idx="4">
                  <c:v>29088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723-4C25-ADF0-09C21FA4C5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00"/>
          <c:min val="0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50B-455F-B460-DE54D580490D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50B-455F-B460-DE54D580490D}"/>
              </c:ext>
            </c:extLst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50B-455F-B460-DE54D580490D}"/>
              </c:ext>
            </c:extLst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50B-455F-B460-DE54D580490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50B-455F-B460-DE54D580490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50B-455F-B460-DE54D580490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50B-455F-B460-DE54D580490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950B-455F-B460-DE54D580490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System</c:v>
                </c:pt>
                <c:pt idx="1">
                  <c:v>Login Access</c:v>
                </c:pt>
                <c:pt idx="2">
                  <c:v>Software</c:v>
                </c:pt>
                <c:pt idx="3">
                  <c:v>Hardware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39002</c:v>
                </c:pt>
                <c:pt idx="1">
                  <c:v>29193</c:v>
                </c:pt>
                <c:pt idx="2">
                  <c:v>19570</c:v>
                </c:pt>
                <c:pt idx="3">
                  <c:v>9733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50B-455F-B460-DE54D58049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B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4C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</c:v>
                </c:pt>
                <c:pt idx="1">
                  <c:v>Unassigned</c:v>
                </c:pt>
                <c:pt idx="2">
                  <c:v>Low</c:v>
                </c:pt>
                <c:pt idx="3">
                  <c:v>Mid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35549</c:v>
                </c:pt>
                <c:pt idx="1">
                  <c:v>29410</c:v>
                </c:pt>
                <c:pt idx="2">
                  <c:v>16694</c:v>
                </c:pt>
                <c:pt idx="3">
                  <c:v>15845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0C-4744-BE1F-F62CDD8815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0"/>
          <c:min val="0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4C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Normal</c:v>
                </c:pt>
                <c:pt idx="1">
                  <c:v>Major</c:v>
                </c:pt>
                <c:pt idx="2">
                  <c:v>Minor</c:v>
                </c:pt>
                <c:pt idx="3">
                  <c:v>Urgent</c:v>
                </c:pt>
                <c:pt idx="4">
                  <c:v>Unclassified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88656</c:v>
                </c:pt>
                <c:pt idx="1">
                  <c:v>4836</c:v>
                </c:pt>
                <c:pt idx="2">
                  <c:v>2258</c:v>
                </c:pt>
                <c:pt idx="3">
                  <c:v>1392</c:v>
                </c:pt>
                <c:pt idx="4">
                  <c:v>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9E-4BBE-8924-77B54B9E14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000"/>
          <c:min val="0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4C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9907</c:v>
                </c:pt>
                <c:pt idx="1">
                  <c:v>1977</c:v>
                </c:pt>
                <c:pt idx="2">
                  <c:v>7282</c:v>
                </c:pt>
                <c:pt idx="3">
                  <c:v>27562</c:v>
                </c:pt>
                <c:pt idx="4">
                  <c:v>50770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14-4C74-8E40-545669D8CC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0"/>
                    </a:solidFill>
                    <a:latin typeface="Arial"/>
                  </a:rPr>
                  <a:t>Satisfaction score (1 = low, 5 = high)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000"/>
          <c:min val="0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4C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0-2</c:v>
                </c:pt>
                <c:pt idx="1">
                  <c:v>3-5</c:v>
                </c:pt>
                <c:pt idx="2">
                  <c:v>6-8</c:v>
                </c:pt>
                <c:pt idx="3">
                  <c:v>9-11</c:v>
                </c:pt>
                <c:pt idx="4">
                  <c:v>12-14</c:v>
                </c:pt>
                <c:pt idx="5">
                  <c:v>15-17</c:v>
                </c:pt>
                <c:pt idx="6">
                  <c:v>18-21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40814</c:v>
                </c:pt>
                <c:pt idx="1">
                  <c:v>19908</c:v>
                </c:pt>
                <c:pt idx="2">
                  <c:v>19234</c:v>
                </c:pt>
                <c:pt idx="3">
                  <c:v>9370</c:v>
                </c:pt>
                <c:pt idx="4">
                  <c:v>4833</c:v>
                </c:pt>
                <c:pt idx="5">
                  <c:v>3081</c:v>
                </c:pt>
                <c:pt idx="6">
                  <c:v>258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26-47C9-B620-EC057A693F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0"/>
                    </a:solidFill>
                    <a:latin typeface="Arial"/>
                  </a:rPr>
                  <a:t>Resolution time (days)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0"/>
          <c:min val="0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Login Access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</c:v>
                </c:pt>
                <c:pt idx="1">
                  <c:v>0.32</c:v>
                </c:pt>
                <c:pt idx="2">
                  <c:v>0.31</c:v>
                </c:pt>
                <c:pt idx="3">
                  <c:v>0.31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12-46AB-B424-38F201779D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Software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5.24</c:v>
                </c:pt>
                <c:pt idx="1">
                  <c:v>5.26</c:v>
                </c:pt>
                <c:pt idx="2">
                  <c:v>5.16</c:v>
                </c:pt>
                <c:pt idx="3">
                  <c:v>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12-46AB-B424-38F201779D0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System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6.64</c:v>
                </c:pt>
                <c:pt idx="1">
                  <c:v>6.64</c:v>
                </c:pt>
                <c:pt idx="2">
                  <c:v>6.58</c:v>
                </c:pt>
                <c:pt idx="3">
                  <c:v>6.6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12-46AB-B424-38F201779D0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rgbClr val="0F4C5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7.74</c:v>
                </c:pt>
                <c:pt idx="1">
                  <c:v>7.68</c:v>
                </c:pt>
                <c:pt idx="2">
                  <c:v>7.53</c:v>
                </c:pt>
                <c:pt idx="3">
                  <c:v>7.55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E12-46AB-B424-38F201779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0"/>
                    </a:solidFill>
                    <a:latin typeface="Arial"/>
                  </a:rPr>
                  <a:t>Average resolution (days)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2B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satisfaction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4C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3.98</c:v>
                </c:pt>
                <c:pt idx="1">
                  <c:v>4.07</c:v>
                </c:pt>
                <c:pt idx="2">
                  <c:v>4.09</c:v>
                </c:pt>
                <c:pt idx="3">
                  <c:v>4.12</c:v>
                </c:pt>
                <c:pt idx="4">
                  <c:v>4.16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2D-4B4B-AA69-10956FA0E6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3"/>
          <c:min val="3.8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0"/>
                    </a:solidFill>
                    <a:latin typeface="Arial"/>
                  </a:rPr>
                  <a:t>Average satisfaction (1–5)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satisfaction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F4C5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29-37</c:v>
                </c:pt>
                <c:pt idx="1">
                  <c:v>38-46</c:v>
                </c:pt>
                <c:pt idx="2">
                  <c:v>47-55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4.13</c:v>
                </c:pt>
                <c:pt idx="1">
                  <c:v>4.0199999999999996</c:v>
                </c:pt>
                <c:pt idx="2">
                  <c:v>4.22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5F-408E-AACB-11910037BB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0"/>
                    </a:solidFill>
                    <a:latin typeface="Arial"/>
                  </a:rPr>
                  <a:t>Agent age group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4000000000000004"/>
          <c:min val="3.8"/>
        </c:scaling>
        <c:delete val="0"/>
        <c:axPos val="l"/>
        <c:majorGridlines>
          <c:spPr>
            <a:ln w="6350" cap="flat">
              <a:solidFill>
                <a:srgbClr val="E2EC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0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5B6B70"/>
                    </a:solidFill>
                    <a:latin typeface="Arial"/>
                  </a:rPr>
                  <a:t>Average satisfaction (1–5)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715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937760" cy="493776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389120"/>
            <a:ext cx="3657600" cy="3657600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-1280160"/>
            <a:ext cx="3108960" cy="3108960"/>
          </a:xfrm>
          <a:prstGeom prst="ellipse">
            <a:avLst/>
          </a:prstGeom>
          <a:solidFill>
            <a:srgbClr val="00A89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ticket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940" y="3612347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Akshata Likhar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04672" y="1820869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Ticket Analysis</a:t>
            </a:r>
            <a:endParaRPr lang="en-US" sz="5200" dirty="0"/>
          </a:p>
        </p:txBody>
      </p:sp>
      <p:sp>
        <p:nvSpPr>
          <p:cNvPr id="8" name="Shape 5"/>
          <p:cNvSpPr/>
          <p:nvPr/>
        </p:nvSpPr>
        <p:spPr>
          <a:xfrm>
            <a:off x="868680" y="3463523"/>
            <a:ext cx="2743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8680" y="28080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efficiency &amp; staffing insights from 5 years of ticket data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41248" y="57607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JUNE 2016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walks 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51560" cy="9601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pic>
        <p:nvPicPr>
          <p:cNvPr id="7" name="Image 0" descr="icons/warn2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520" y="2057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14600" y="190195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514600" y="228600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 - what management needs to decide.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862072"/>
            <a:ext cx="10881360" cy="960120"/>
          </a:xfrm>
          <a:prstGeom prst="rect">
            <a:avLst/>
          </a:prstGeom>
          <a:solidFill>
            <a:srgbClr val="F4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2862072"/>
            <a:ext cx="1051560" cy="9601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862072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pic>
        <p:nvPicPr>
          <p:cNvPr id="13" name="Image 1" descr="icons/databas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20" y="313639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298094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Description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2514600" y="336499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source sheets and the attributes they hold.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3941064"/>
            <a:ext cx="10881360" cy="960120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" y="3941064"/>
            <a:ext cx="1051560" cy="9601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0080" y="3941064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pic>
        <p:nvPicPr>
          <p:cNvPr id="19" name="Image 2" descr="icons/chartLin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4215384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14600" y="405993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 Metrics &amp; Visualizations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2514600" y="4443984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factual questions about the data.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" y="5020056"/>
            <a:ext cx="10881360" cy="960120"/>
          </a:xfrm>
          <a:prstGeom prst="rect">
            <a:avLst/>
          </a:prstGeom>
          <a:solidFill>
            <a:srgbClr val="F4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40080" y="5020056"/>
            <a:ext cx="1051560" cy="9601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40080" y="5020056"/>
            <a:ext cx="1051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pic>
        <p:nvPicPr>
          <p:cNvPr id="25" name="Image 3" descr="icons/lightbulb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5294376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14600" y="51389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Subjective Insights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2514600" y="552297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Reasoned recommendations for staffing and investment.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257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766560" cy="4206240"/>
          </a:xfrm>
          <a:prstGeom prst="rect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we're here to answer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6217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IT support ticket system to understand how well our agents perform, how efficiently tickets get resolved, and how satisfied employees are with the service.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97764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give management the evidence it needs to make confident staffing decisions - where to hire, who to train, and where to invest.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26680" y="1783080"/>
            <a:ext cx="3840480" cy="91440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icons/users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203911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49640" y="1783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high &amp; low performers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26680" y="2816352"/>
            <a:ext cx="3840480" cy="91440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clock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7238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49640" y="2816352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resolution efficiency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726680" y="3849624"/>
            <a:ext cx="3840480" cy="91440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smil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410565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49640" y="3849624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employee satisfaction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726680" y="4882896"/>
            <a:ext cx="3840480" cy="91440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icons/scale_mi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513892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49640" y="4882896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hiring, training &amp; investment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Description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built from two linked sheets, joined on Agent ID called Cleaned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416052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86868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tick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299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105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417320" y="2212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97,498 rows · 10 attributes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Ticket  ·  Date (Fecha)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 ·  Agent ID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Category  ·  Issue Type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 ·  Priority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 ·  Satisfaction Rate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09360" y="1783080"/>
            <a:ext cx="5349240" cy="416052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309360" y="1783080"/>
            <a:ext cx="5349240" cy="86868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idc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02996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8105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Agents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086600" y="2212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rows · 6 attributes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675120" y="2880360"/>
            <a:ext cx="4663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  ·  Full Name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address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Birth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of Birth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Birth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Analytical Approach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3200400"/>
          </a:xfrm>
          <a:prstGeom prst="rect">
            <a:avLst/>
          </a:prstGeom>
          <a:solidFill>
            <a:srgbClr val="00A896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pic>
        <p:nvPicPr>
          <p:cNvPr id="7" name="Image 0" descr="icons/broo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24028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dates and agent names, checked every column for gaps with Power Query.</a:t>
            </a:r>
            <a:endParaRPr lang="en-US" sz="1400" dirty="0"/>
          </a:p>
        </p:txBody>
      </p:sp>
      <p:pic>
        <p:nvPicPr>
          <p:cNvPr id="10" name="Image 1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29184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26280" y="1965960"/>
            <a:ext cx="3383280" cy="3200400"/>
          </a:xfrm>
          <a:prstGeom prst="rect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0060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pic>
        <p:nvPicPr>
          <p:cNvPr id="13" name="Image 2" descr="icons/tab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24028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060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Summarise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4800600" y="36576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pivot tables to group tickets by agent, category, priority and year.</a:t>
            </a:r>
            <a:endParaRPr lang="en-US" sz="1400" dirty="0"/>
          </a:p>
        </p:txBody>
      </p:sp>
      <p:pic>
        <p:nvPicPr>
          <p:cNvPr id="16" name="Image 3" descr="icons/arrowRigh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712" y="3291840"/>
            <a:ext cx="365760" cy="36576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412480" y="1965960"/>
            <a:ext cx="3383280" cy="3200400"/>
          </a:xfrm>
          <a:prstGeom prst="rect">
            <a:avLst/>
          </a:prstGeom>
          <a:solidFill>
            <a:srgbClr val="0F4C5C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2"/>
          <p:cNvSpPr/>
          <p:nvPr/>
        </p:nvSpPr>
        <p:spPr>
          <a:xfrm>
            <a:off x="8686800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pic>
        <p:nvPicPr>
          <p:cNvPr id="19" name="Image 4" descr="icons/searc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2240280"/>
            <a:ext cx="685800" cy="685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680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2200" dirty="0"/>
          </a:p>
        </p:txBody>
      </p:sp>
      <p:sp>
        <p:nvSpPr>
          <p:cNvPr id="21" name="Text 14"/>
          <p:cNvSpPr/>
          <p:nvPr/>
        </p:nvSpPr>
        <p:spPr>
          <a:xfrm>
            <a:off x="8686800" y="36576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resolution times, satisfaction and workload to answer each project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 &amp; Structure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82880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822960" cy="822960"/>
          </a:xfrm>
          <a:prstGeom prst="ellipse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hash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3957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9476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011680" y="2743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attributes (10 in Tickets + 6 in IT Agents)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03520" cy="182880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194560"/>
            <a:ext cx="822960" cy="822960"/>
          </a:xfrm>
          <a:prstGeom prst="ellipse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broom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239572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19476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800" dirty="0"/>
          </a:p>
        </p:txBody>
      </p:sp>
      <p:sp>
        <p:nvSpPr>
          <p:cNvPr id="13" name="Text 9"/>
          <p:cNvSpPr/>
          <p:nvPr/>
        </p:nvSpPr>
        <p:spPr>
          <a:xfrm>
            <a:off x="7589520" y="2743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inconsistent values remaining after cleaning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749040"/>
            <a:ext cx="5303520" cy="182880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60120" y="4251960"/>
            <a:ext cx="822960" cy="822960"/>
          </a:xfrm>
          <a:prstGeom prst="ellipse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columns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4531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0050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</a:rPr>
              <a:t>7</a:t>
            </a:r>
            <a:endParaRPr lang="en-US" sz="3800" dirty="0"/>
          </a:p>
        </p:txBody>
      </p:sp>
      <p:sp>
        <p:nvSpPr>
          <p:cNvPr id="18" name="Text 13"/>
          <p:cNvSpPr/>
          <p:nvPr/>
        </p:nvSpPr>
        <p:spPr>
          <a:xfrm>
            <a:off x="2011680" y="4800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used for grouping and slicing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3749040"/>
            <a:ext cx="5303520" cy="182880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251960"/>
            <a:ext cx="822960" cy="822960"/>
          </a:xfrm>
          <a:prstGeom prst="ellipse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cak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45312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0050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</a:rPr>
              <a:t>41</a:t>
            </a:r>
            <a:endParaRPr lang="en-US" sz="3800" dirty="0"/>
          </a:p>
        </p:txBody>
      </p:sp>
      <p:sp>
        <p:nvSpPr>
          <p:cNvPr id="23" name="Text 17"/>
          <p:cNvSpPr/>
          <p:nvPr/>
        </p:nvSpPr>
        <p:spPr>
          <a:xfrm>
            <a:off x="7589520" y="4800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agent age in years (range 29 - 54)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columns: Quarter, Month, Agent Name, Request Category, Issue Type, Severity and Priority.  Severity and resolution time are barely correlated (r ≈ −0.04).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463040"/>
            <a:ext cx="4572000" cy="4572000"/>
          </a:xfrm>
          <a:prstGeom prst="ellipse">
            <a:avLst/>
          </a:prstGeom>
          <a:solidFill>
            <a:srgbClr val="028090">
              <a:alpha val="3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474720" cy="347472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200" y="1019556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Dashboard: Key Charts &amp; Insights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6488" y="2807208"/>
            <a:ext cx="952275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9E4E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Excel dashboard with multiple slicers. The next slides walk through each of its nine charts with the takeaways that matter most.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38200" y="4361688"/>
            <a:ext cx="3017520" cy="77724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icons/sliders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32" y="4562856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15440" y="436168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</a:t>
            </a: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licers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87240" y="4361688"/>
            <a:ext cx="3017520" cy="77724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 1" descr="icons/chartLine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272" y="456285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4480" y="436168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linked charts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336280" y="4361688"/>
            <a:ext cx="3017520" cy="77724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Image 2" descr="icons/gaug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312" y="4562856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13520" y="436168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KPI cards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F4C5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Ticket Volume Trend Over Time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B6B7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tickets logged each year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A2B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Annual volume more than doubled (+123%)  from 13,051 tickets in 2016 to 29,088 in 2020.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A2B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Growth accelerated after 2018, with the steepest jump in 2020.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1A2B3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Demand is structural, not seasonal, so staffing must scale proactively.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DBD8CD21-2F2E-7138-4C62-896588A60CE9}"/>
              </a:ext>
            </a:extLst>
          </p:cNvPr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Category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tickets by request category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45920"/>
          <a:ext cx="66751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'System' is the largest category at 40% (39,002 tickets), with Login Access next at 30%.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those two make up roughly 70% of all tickets.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is just ~10% of volume  but the slowest to resolve, as Chart 7 shows.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Count by Priority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tickets in each priority level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'High' is the biggest bucket (35,549), but 'Unassigned' is a close second at 29,410.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1 in 3 tickets (30%) enters the queue with no priority set.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Untriaged tickets bypass SLA rules, a clear front-end gap to close.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Count by Severity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tickets at each severity level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91% (88,656) have tickets of 'Normal' severity.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Urgent or Major tickets are rare, under 7% combined.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too concentrated to drive prioritisation on its own.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 by Satisfaction Rate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tickets at each satisfaction score (1-5)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all tickets (52%, 50,770) receive the top score of 5.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80% rate 4 or 5 have overall sentiment strongly positive.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 of 1-star ratings (9,907) flags a minority of poor experiences worth probing.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Tickets by Resolution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tickets grouped by days to resolve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tickets close quickly: 42% within 0-2 days and about 83% within 8 days.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tail of roughly 8,000 tickets takes 12+ days to resolve.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Shortening that slow tail would lower the overall average the most.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Resolution Time by Category &amp; Quarter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days to resolve, split by category across quarters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 is virtually flat across all four quarters i.e. there is no seasonal effect.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varies enormously by category: Hardware ~7.6 days vs Login Access ~0.3</a:t>
            </a:r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25× gap).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the type of work, not the time of year, so fixes must be category specific.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Avg Satisfaction Rate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score each year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has risen every single year, from 3.98 to 4.16.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improved even as ticket volume more than doubled.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is scaling without sacrificing service which shows a strong and healthy trend.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CHART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Group vs Satisfaction Rate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25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 score by agent age group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91640"/>
            <a:ext cx="4023360" cy="50292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light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6408" y="1810512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02168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35240" y="233172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7635240" y="233172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891272" y="26289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7891272" y="26289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8503920" y="2331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broadly consistent across all agent age groups (4.02-4.22).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635240" y="356616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635240" y="356616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891272" y="38633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7891272" y="38633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503920" y="356616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oldest group (47-55) scores highest at 4.22; the 38-46 group is slightly lowest.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7635240" y="4800600"/>
            <a:ext cx="4023360" cy="105156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7635240" y="4800600"/>
            <a:ext cx="82296" cy="10515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891272" y="50977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891272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503920" y="480060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not a meaningful driver of performance.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Each Agent Handles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handled per agent (50 agents in total). The load is spread fairly evenly.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agents by volume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5669280" cy="603504"/>
          </a:xfrm>
          <a:prstGeom prst="rect">
            <a:avLst/>
          </a:prstGeom>
          <a:solidFill>
            <a:srgbClr val="028090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Aurelio Tanori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240280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2,027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35224"/>
            <a:ext cx="5669280" cy="603504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93522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35224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Contreras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2935224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630168"/>
            <a:ext cx="5669280" cy="603504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63016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630168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Elena Velez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630168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2,021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325112"/>
            <a:ext cx="5669280" cy="603504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325112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Melinda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4325112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2,007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020056"/>
            <a:ext cx="5669280" cy="603504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502005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020056"/>
            <a:ext cx="3291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Barbara Grijalva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5020056"/>
            <a:ext cx="1554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2,003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0" y="1783080"/>
            <a:ext cx="4709160" cy="1965960"/>
          </a:xfrm>
          <a:prstGeom prst="rect">
            <a:avLst/>
          </a:prstGeom>
          <a:solidFill>
            <a:srgbClr val="0F4C5C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86600" y="20116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~1,950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086600" y="2788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handled by a typical agent across the period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0" y="3977640"/>
            <a:ext cx="4709160" cy="1965960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86600" y="4114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86600" y="452628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alone doesn't separate good from struggling agents, everyone handles a similar number of tickets. To judge performance, we have to look at satisfaction and resolution speed, not volume.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Needs Training?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varies far more between agents than the 4.10 average suggests from 3.0 to 4.6.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thumbs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476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performers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2971800"/>
            <a:ext cx="4983480" cy="658368"/>
          </a:xfrm>
          <a:prstGeom prst="rect">
            <a:avLst/>
          </a:prstGeom>
          <a:solidFill>
            <a:srgbClr val="F4F8F8"/>
          </a:solidFill>
          <a:ln w="9525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0120" y="297180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 Rojo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886200" y="29718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4.60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00600" y="29718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" y="3703320"/>
            <a:ext cx="4983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60120" y="3703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Javier D.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86200" y="37033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4.49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00600" y="37033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22960" y="4434840"/>
            <a:ext cx="4983480" cy="658368"/>
          </a:xfrm>
          <a:prstGeom prst="rect">
            <a:avLst/>
          </a:prstGeom>
          <a:solidFill>
            <a:srgbClr val="F4F8F8"/>
          </a:solidFill>
          <a:ln w="9525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60120" y="44348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Galindo Guadalupe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86200" y="4434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4.47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800600" y="4434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309360" y="1783080"/>
            <a:ext cx="5349240" cy="68580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icons/user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47672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086600" y="17830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 support / training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6583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969264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0607040" y="2606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92240" y="2971800"/>
            <a:ext cx="4983480" cy="658368"/>
          </a:xfrm>
          <a:prstGeom prst="rect">
            <a:avLst/>
          </a:prstGeom>
          <a:solidFill>
            <a:srgbClr val="F4F8F8"/>
          </a:solidFill>
          <a:ln w="9525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629400" y="297180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Alfonso Barraza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9555480" y="29718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3.04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10469880" y="297180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5.0d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492240" y="3703320"/>
            <a:ext cx="498348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6629400" y="3703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Trejo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9555480" y="37033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3.59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10469880" y="370332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5.3d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6492240" y="4434840"/>
            <a:ext cx="4983480" cy="658368"/>
          </a:xfrm>
          <a:prstGeom prst="rect">
            <a:avLst/>
          </a:prstGeom>
          <a:solidFill>
            <a:srgbClr val="F4F8F8"/>
          </a:solidFill>
          <a:ln w="9525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6629400" y="44348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Sandra Lujan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9555480" y="4434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10469880" y="4434840"/>
            <a:ext cx="914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5.2d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640080" y="5486400"/>
            <a:ext cx="10927080" cy="777240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 </a:t>
            </a:r>
            <a:r>
              <a:rPr lang="en-US" sz="13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coaching at the bottom group rather than firing as they carry full workloads, so the issue looks like skill and process, not effort.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Should We Invest?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three options against the evidence, hire, train, or upgrade software.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0440" cy="393192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402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71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 more agents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914400" y="3703320"/>
            <a:ext cx="1828800" cy="41148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priority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42519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 already even and satisfaction is rising hence capacity isn't the bottleneck yet.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3400" y="1965960"/>
            <a:ext cx="3520440" cy="3931920"/>
          </a:xfrm>
          <a:prstGeom prst="rect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gra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24028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2971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training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4617720" y="3703320"/>
            <a:ext cx="1828800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461772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17720" y="42519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wide 3.0 - 4.6 satisfaction gap between agents at low cost. Direct, fast impact.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520440" cy="3931920"/>
          </a:xfrm>
          <a:prstGeom prst="rect">
            <a:avLst/>
          </a:prstGeom>
          <a:solidFill>
            <a:srgbClr val="13606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w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240280"/>
            <a:ext cx="594360" cy="5943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97180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Upgrade software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8321040" y="3703320"/>
            <a:ext cx="1828800" cy="41148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832104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21040" y="425196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it specifically for self-service login &amp; auto-triage which is not a full platform replacement.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First in Targeted Training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35440" y="640080"/>
            <a:ext cx="2103120" cy="2103120"/>
          </a:xfrm>
          <a:prstGeom prst="ellipse">
            <a:avLst/>
          </a:prstGeom>
          <a:solidFill>
            <a:srgbClr val="0F4C5C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6400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1170432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lightbulb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8833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4780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5920" y="2788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the budget toward coaching the lowest-satisfaction agents before mass hiring or a software overhaul.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3639312"/>
            <a:ext cx="10698480" cy="1170432"/>
          </a:xfrm>
          <a:prstGeom prst="rect">
            <a:avLst/>
          </a:prstGeom>
          <a:solidFill>
            <a:srgbClr val="F4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3639312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hartUp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959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7856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- THE DATA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45920" y="40965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ranges from 3.0 to 4.6 across agents despite similar workloads which is a skill and process gap, not a capacity one.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31520" y="4946904"/>
            <a:ext cx="10698480" cy="1170432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4946904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bol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303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5093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645920" y="540410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the bottom group toward the team average is the cheapest, fastest way to raise the overall 4.10 score.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Login-Access Requests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35440" y="640080"/>
            <a:ext cx="2103120" cy="2103120"/>
          </a:xfrm>
          <a:prstGeom prst="ellipse">
            <a:avLst/>
          </a:prstGeom>
          <a:solidFill>
            <a:srgbClr val="0F4C5C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6400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1170432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lightbulb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8833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4780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5920" y="2788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self-service password resets and an automated access portal for the Login Access category.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3639312"/>
            <a:ext cx="10698480" cy="1170432"/>
          </a:xfrm>
          <a:prstGeom prst="rect">
            <a:avLst/>
          </a:prstGeom>
          <a:solidFill>
            <a:srgbClr val="F4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3639312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hartUp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959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7856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- THE DATA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45920" y="40965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Access is 30% of all tickets (29,000+) and clears in just 0.3 days means high volume, low complexity.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31520" y="4946904"/>
            <a:ext cx="10698480" cy="1170432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4946904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bol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303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5093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645920" y="540410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Deflecting these frees agents to focus on Hardware and System tickets, which take 7+ days and need real skill.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 Priority Triage &amp; Scale With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235440" y="640080"/>
            <a:ext cx="2103120" cy="2103120"/>
          </a:xfrm>
          <a:prstGeom prst="ellipse">
            <a:avLst/>
          </a:prstGeom>
          <a:solidFill>
            <a:srgbClr val="0F4C5C"/>
          </a:solidFill>
          <a:ln/>
          <a:effectLst>
            <a:outerShdw blurRad="88900" dist="38100" dir="8100000" algn="bl" rotWithShape="0">
              <a:srgbClr val="0F4C5C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6400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1170432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flag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8833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4780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5920" y="2788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priority a required field at intake, and plan hiring against the proven ~15-20% yearly volume growth.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3639312"/>
            <a:ext cx="10698480" cy="1170432"/>
          </a:xfrm>
          <a:prstGeom prst="rect">
            <a:avLst/>
          </a:prstGeom>
          <a:solidFill>
            <a:srgbClr val="F4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3639312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chartUp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95928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37856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- THE DATA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645920" y="4096512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29,410 tickets (30%) sit 'Unassigned' and drag out to 5.3 days; volume has risen every single year.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731520" y="4946904"/>
            <a:ext cx="10698480" cy="1170432"/>
          </a:xfrm>
          <a:prstGeom prst="rect">
            <a:avLst/>
          </a:prstGeom>
          <a:solidFill>
            <a:srgbClr val="E3F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20" y="4946904"/>
            <a:ext cx="91440" cy="117043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bolt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3035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5093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645920" y="5404104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unassigned tier tightens SLAs, and forecast-based staffing protects the rising satisfaction trend.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Performance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Excel with Priority, Year and more slicers, so management can explore the data through a long review.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09560" y="1783080"/>
            <a:ext cx="3639312" cy="1298448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icons/slid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02996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823960" y="19659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&amp; Year slicers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823960" y="236829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every metric live during discussion.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909560" y="3227832"/>
            <a:ext cx="3639312" cy="1298448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icons/gaug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34747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23960" y="3410712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823960" y="381304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satisfaction and resolution at a glance.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909560" y="4672584"/>
            <a:ext cx="3639312" cy="1298448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91947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23960" y="4855464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&amp; category charts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823960" y="52578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E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peaks, stable periods and slow categories.</a:t>
            </a: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6E38F2-BEBC-4A76-AC74-D9A4FE4BF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1783080"/>
            <a:ext cx="70408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F4C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capable team is absorbing fast-growing volume while satisfaction keeps rising.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gains to chase are a wide agent-to-agent skill gap, slow Hardware/System work, and untriaged tickets.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training first, automate routine logins, and enforce triage and then scale staffing with growth.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23760" y="731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three numbers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4343400" cy="146304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icons/ticket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8288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75320" y="15544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97,498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275320" y="22219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analysed across 5 years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223760" y="2999232"/>
            <a:ext cx="4343400" cy="146304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use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456432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5320" y="31821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3.0 - 4.6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8275320" y="384962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gap between agents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223760" y="4626864"/>
            <a:ext cx="4343400" cy="1463040"/>
          </a:xfrm>
          <a:prstGeom prst="rect">
            <a:avLst/>
          </a:prstGeom>
          <a:solidFill>
            <a:srgbClr val="F4F8F8"/>
          </a:solidFill>
          <a:ln w="12700">
            <a:solidFill>
              <a:srgbClr val="E3F0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s/clock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5084064"/>
            <a:ext cx="594360" cy="5943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480974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25×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8275320" y="54772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gap between categories</a:t>
            </a:r>
            <a:endParaRPr lang="en-US" sz="125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DDF5BBB4-5874-ABB9-7D9A-D27FF57FC670}"/>
              </a:ext>
            </a:extLst>
          </p:cNvPr>
          <p:cNvSpPr/>
          <p:nvPr/>
        </p:nvSpPr>
        <p:spPr>
          <a:xfrm>
            <a:off x="658368" y="310896"/>
            <a:ext cx="495636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6B3743BD-41B9-0AC9-960F-9FB5663406ED}"/>
              </a:ext>
            </a:extLst>
          </p:cNvPr>
          <p:cNvSpPr/>
          <p:nvPr/>
        </p:nvSpPr>
        <p:spPr>
          <a:xfrm>
            <a:off x="640080" y="640080"/>
            <a:ext cx="545200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Acknowledgements &amp; References</a:t>
            </a:r>
            <a:endParaRPr lang="en-US" sz="3200" dirty="0"/>
          </a:p>
        </p:txBody>
      </p:sp>
      <p:pic>
        <p:nvPicPr>
          <p:cNvPr id="5" name="Image 0" descr="icons/database_m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31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2057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24871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</a:t>
            </a:r>
            <a:r>
              <a:rPr lang="en-US" sz="145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Analysis dataset </a:t>
            </a:r>
            <a:r>
              <a:rPr lang="en-US" sz="1450" dirty="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Tickets &amp; IT Agents sheets, 2016-2020.</a:t>
            </a:r>
            <a:endParaRPr lang="en-US" sz="1450" dirty="0"/>
          </a:p>
        </p:txBody>
      </p:sp>
      <p:pic>
        <p:nvPicPr>
          <p:cNvPr id="8" name="Image 1" descr="icons/cogs_m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3756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3291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used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45920" y="37216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- Excel Formulas, pivot tables, charts, filters, conditional formatting and slicers.</a:t>
            </a:r>
            <a:endParaRPr lang="en-US" sz="1450" dirty="0"/>
          </a:p>
        </p:txBody>
      </p:sp>
      <p:pic>
        <p:nvPicPr>
          <p:cNvPr id="11" name="Image 2" descr="icons/handshake_mi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7200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45920" y="4526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645920" y="495604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7EA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my mentors and reviewers for the chance to present this analysis.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3152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1744</Words>
  <Application>Microsoft Office PowerPoint</Application>
  <PresentationFormat>Widescreen</PresentationFormat>
  <Paragraphs>314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Spreadsheet Project: IT Ticket Analysis</dc:title>
  <dc:subject>PptxGenJS Presentation</dc:subject>
  <dc:creator>IT Ticket Analysis</dc:creator>
  <cp:lastModifiedBy>Akshata Likhar</cp:lastModifiedBy>
  <cp:revision>14</cp:revision>
  <dcterms:created xsi:type="dcterms:W3CDTF">2026-05-31T10:41:49Z</dcterms:created>
  <dcterms:modified xsi:type="dcterms:W3CDTF">2026-06-06T14:16:45Z</dcterms:modified>
</cp:coreProperties>
</file>